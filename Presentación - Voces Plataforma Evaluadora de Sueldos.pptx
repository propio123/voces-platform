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Helvetica World" panose="020B0604020202020204" charset="-128"/>
      <p:regular r:id="rId8"/>
    </p:embeddedFont>
    <p:embeddedFont>
      <p:font typeface="Helvetica World Bold" panose="020B0604020202020204" charset="-128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eorgia Pro Condense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996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2700"/>
            <a:ext cx="11201400" cy="10299700"/>
            <a:chOff x="0" y="0"/>
            <a:chExt cx="963348" cy="88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3348" cy="885799"/>
            </a:xfrm>
            <a:custGeom>
              <a:avLst/>
              <a:gdLst/>
              <a:ahLst/>
              <a:cxnLst/>
              <a:rect l="l" t="t" r="r" b="b"/>
              <a:pathLst>
                <a:path w="963348" h="885799">
                  <a:moveTo>
                    <a:pt x="0" y="0"/>
                  </a:moveTo>
                  <a:lnTo>
                    <a:pt x="963348" y="0"/>
                  </a:lnTo>
                  <a:lnTo>
                    <a:pt x="963348" y="885799"/>
                  </a:lnTo>
                  <a:lnTo>
                    <a:pt x="0" y="885799"/>
                  </a:lnTo>
                  <a:close/>
                </a:path>
              </a:pathLst>
            </a:custGeom>
            <a:solidFill>
              <a:srgbClr val="2477C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868150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9001760"/>
            <a:ext cx="6886575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u="none" strike="noStrike" spc="-57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Presentador: Msc.Juan Chávez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5380" y="965543"/>
            <a:ext cx="9754495" cy="7335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01"/>
              </a:lnSpc>
            </a:pPr>
            <a:r>
              <a:rPr lang="en-US" sz="14301" u="none" strike="noStrike" spc="-5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Voces: Plataforma Evaluadora de Sueldos</a:t>
            </a:r>
          </a:p>
        </p:txBody>
      </p:sp>
      <p:sp>
        <p:nvSpPr>
          <p:cNvPr id="8" name="Freeform 8"/>
          <p:cNvSpPr/>
          <p:nvPr/>
        </p:nvSpPr>
        <p:spPr>
          <a:xfrm rot="-3117037">
            <a:off x="8947742" y="765609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1"/>
                </a:lnTo>
                <a:lnTo>
                  <a:pt x="0" y="18590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2477C6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05025" y="1562100"/>
            <a:ext cx="9763125" cy="5765800"/>
            <a:chOff x="0" y="0"/>
            <a:chExt cx="13017500" cy="7687733"/>
          </a:xfrm>
        </p:grpSpPr>
        <p:sp>
          <p:nvSpPr>
            <p:cNvPr id="6" name="TextBox 6"/>
            <p:cNvSpPr txBox="1"/>
            <p:nvPr/>
          </p:nvSpPr>
          <p:spPr>
            <a:xfrm>
              <a:off x="0" y="1196975"/>
              <a:ext cx="13017500" cy="6490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spc="-37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explotación laboral es un </a:t>
              </a:r>
              <a:r>
                <a:rPr lang="en-US" sz="2499" b="1" spc="-37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problema creciente</a:t>
              </a:r>
              <a:r>
                <a:rPr lang="en-US" sz="2499" spc="-37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en diversos sectores. Actualmente, muchos trabajadores enfrentan condiciones adversas que incluyen: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Sueldos bajos en comparación con las horas trabajadas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Falta de acceso a información sobre sus derechos</a:t>
              </a:r>
            </a:p>
            <a:p>
              <a:pPr marL="539749" lvl="1" indent="-269875" algn="l">
                <a:lnSpc>
                  <a:spcPts val="3499"/>
                </a:lnSpc>
                <a:buFont typeface="Arial"/>
                <a:buChar char="•"/>
              </a:pPr>
              <a:r>
                <a:rPr lang="en-US" sz="2499" spc="-37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Escasa visibilidad de sus situaciones ante la sociedad</a:t>
              </a:r>
            </a:p>
            <a:p>
              <a:pPr marL="0" lvl="0" indent="0" algn="l">
                <a:lnSpc>
                  <a:spcPts val="3499"/>
                </a:lnSpc>
              </a:pPr>
              <a:r>
                <a:rPr lang="en-US" sz="2499" spc="-37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Esta problemática no solo afecta a los trabajadores, sino que también </a:t>
              </a:r>
              <a:r>
                <a:rPr lang="en-US" sz="2499" b="1" spc="-37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dificulta</a:t>
              </a:r>
              <a:r>
                <a:rPr lang="en-US" sz="2499" spc="-37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el trabajo de ONG como FARO. La falta de datos precisos impide diseñar estrategias efectivas para combatir la explotación, haciendo urgente la necesidad de plataformas como "Voces" para recopilar y visibilizar estas realidades.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13017500" cy="669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spc="-44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Contexto de la explotación laboral actual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5524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0F2230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00225" y="1497806"/>
            <a:ext cx="13249275" cy="2474500"/>
            <a:chOff x="0" y="-85725"/>
            <a:chExt cx="17665700" cy="3299333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17665700" cy="17028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400"/>
                </a:lnSpc>
              </a:pPr>
              <a:r>
                <a:rPr lang="en-US" sz="8000" spc="-240">
                  <a:solidFill>
                    <a:srgbClr val="F0F4F8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¿Qué es Voces?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87687"/>
              <a:ext cx="17665700" cy="1025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500" b="1" spc="-37" dirty="0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Plataforma para </a:t>
              </a:r>
              <a:r>
                <a:rPr lang="en-US" sz="2500" b="1" spc="-37" dirty="0" err="1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visibilizar</a:t>
              </a:r>
              <a:r>
                <a:rPr lang="en-US" sz="2500" b="1" spc="-37" dirty="0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la </a:t>
              </a:r>
              <a:r>
                <a:rPr lang="en-US" sz="2500" b="1" spc="-37" dirty="0" err="1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explotación</a:t>
              </a:r>
              <a:r>
                <a:rPr lang="en-US" sz="2500" b="1" spc="-37" dirty="0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</a:t>
              </a:r>
              <a:r>
                <a:rPr lang="en-US" sz="2500" b="1" spc="-37" dirty="0" err="1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laboral</a:t>
              </a:r>
              <a:r>
                <a:rPr lang="en-US" sz="2500" b="1" spc="-37" dirty="0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con </a:t>
              </a:r>
              <a:r>
                <a:rPr lang="en-US" sz="2500" b="1" spc="-37" dirty="0" err="1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análisis</a:t>
              </a:r>
              <a:r>
                <a:rPr lang="en-US" sz="2500" b="1" spc="-37" dirty="0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a traves de </a:t>
              </a:r>
              <a:r>
                <a:rPr lang="en-US" sz="2500" b="1" spc="-37" dirty="0" err="1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Inteligencia</a:t>
              </a:r>
              <a:r>
                <a:rPr lang="en-US" sz="2500" b="1" spc="-37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Artificial.</a:t>
              </a:r>
              <a:endParaRPr lang="en-US" sz="2500" b="1" spc="-37" dirty="0">
                <a:solidFill>
                  <a:srgbClr val="F0F4F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800225" y="5143500"/>
            <a:ext cx="4308497" cy="2930525"/>
            <a:chOff x="0" y="0"/>
            <a:chExt cx="5744662" cy="3907367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574466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Visibilidad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060450"/>
              <a:ext cx="5744662" cy="28469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Voces permite hacer </a:t>
              </a:r>
              <a:r>
                <a:rPr lang="en-US" sz="2000" b="1" u="none" strike="noStrike" spc="-30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visible</a:t>
              </a:r>
              <a:r>
                <a:rPr lang="en-US" sz="2000" u="none" strike="noStrike" spc="-30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la situación de los trabajadores explotados, brindando una plataforma donde sus experiencias y realidades pueden ser compartidas, alertando a la sociedad sobre esta problemática.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91388" y="5143500"/>
            <a:ext cx="4010025" cy="3282950"/>
            <a:chOff x="0" y="0"/>
            <a:chExt cx="5346700" cy="4377267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Evaluación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060450"/>
              <a:ext cx="5346700" cy="3316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La plataforma ofrece una herramienta de </a:t>
              </a:r>
              <a:r>
                <a:rPr lang="en-US" sz="2000" b="1" u="none" strike="noStrike" spc="-30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evaluación</a:t>
              </a:r>
              <a:r>
                <a:rPr lang="en-US" sz="2000" u="none" strike="noStrike" spc="-30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que relaciona sueldos con horas de trabajo, permitiendo a los trabajadores comparar sus salarios y condiciones laborales con los estándares del mercado.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5143500"/>
            <a:ext cx="4010025" cy="3282950"/>
            <a:chOff x="0" y="0"/>
            <a:chExt cx="5346700" cy="4377267"/>
          </a:xfrm>
        </p:grpSpPr>
        <p:sp>
          <p:nvSpPr>
            <p:cNvPr id="16" name="TextBox 16"/>
            <p:cNvSpPr txBox="1"/>
            <p:nvPr/>
          </p:nvSpPr>
          <p:spPr>
            <a:xfrm>
              <a:off x="0" y="0"/>
              <a:ext cx="5346700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99"/>
                </a:lnSpc>
                <a:spcBef>
                  <a:spcPct val="0"/>
                </a:spcBef>
              </a:pPr>
              <a:r>
                <a:rPr lang="en-US" sz="2499" b="1" spc="-37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Empoderamiento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1060450"/>
              <a:ext cx="5346700" cy="3316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00"/>
                </a:lnSpc>
              </a:pPr>
              <a:r>
                <a:rPr lang="en-US" sz="2000" u="none" strike="noStrike" spc="-30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A través de los datos recopilados, Voces proporciona </a:t>
              </a:r>
              <a:r>
                <a:rPr lang="en-US" sz="2000" b="1" u="none" strike="noStrike" spc="-30">
                  <a:solidFill>
                    <a:srgbClr val="F0F4F8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empoderamiento</a:t>
              </a:r>
              <a:r>
                <a:rPr lang="en-US" sz="2000" u="none" strike="noStrike" spc="-30">
                  <a:solidFill>
                    <a:srgbClr val="F0F4F8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a los trabajadores, dándoles información concreta para exigir condiciones laborales justas y contribuir a la defensa de sus derechos.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 rot="-3117037">
            <a:off x="16099474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5" y="0"/>
                </a:lnTo>
                <a:lnTo>
                  <a:pt x="2112605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0"/>
            <a:ext cx="8991600" cy="3352800"/>
            <a:chOff x="0" y="0"/>
            <a:chExt cx="2368158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68158" cy="883042"/>
            </a:xfrm>
            <a:custGeom>
              <a:avLst/>
              <a:gdLst/>
              <a:ahLst/>
              <a:cxnLst/>
              <a:rect l="l" t="t" r="r" b="b"/>
              <a:pathLst>
                <a:path w="2368158" h="883042">
                  <a:moveTo>
                    <a:pt x="0" y="0"/>
                  </a:moveTo>
                  <a:lnTo>
                    <a:pt x="2368158" y="0"/>
                  </a:lnTo>
                  <a:lnTo>
                    <a:pt x="2368158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25374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68158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91600" y="0"/>
            <a:ext cx="9296400" cy="10287000"/>
            <a:chOff x="0" y="0"/>
            <a:chExt cx="1220873" cy="13509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20873" cy="1350966"/>
            </a:xfrm>
            <a:custGeom>
              <a:avLst/>
              <a:gdLst/>
              <a:ahLst/>
              <a:cxnLst/>
              <a:rect l="l" t="t" r="r" b="b"/>
              <a:pathLst>
                <a:path w="1220873" h="1350966">
                  <a:moveTo>
                    <a:pt x="0" y="0"/>
                  </a:moveTo>
                  <a:lnTo>
                    <a:pt x="1220873" y="0"/>
                  </a:lnTo>
                  <a:lnTo>
                    <a:pt x="1220873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2"/>
              <a:stretch>
                <a:fillRect t="-66" b="-66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809625"/>
            <a:ext cx="6886575" cy="3089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  <a:spcBef>
                <a:spcPct val="0"/>
              </a:spcBef>
            </a:pPr>
            <a:r>
              <a:rPr lang="en-US" sz="8000" u="none" strike="noStrike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Mecanismo de Trabajo y Reportes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6750" y="7445375"/>
            <a:ext cx="6886575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</a:pPr>
            <a:r>
              <a:rPr lang="en-US" sz="2499" u="none" strike="noStrike" spc="-37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 plataforma "Voces" recopila datos de sueldos y horas trabajadas, generando reportes automáticos. Esto permite a la ONG FARO monitorizar la explotación laboral y actuar con información precisa y actualizada.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908300"/>
            <a:ext cx="5448300" cy="6711950"/>
            <a:chOff x="0" y="0"/>
            <a:chExt cx="1434943" cy="17677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419850" y="2908300"/>
            <a:ext cx="5448300" cy="6711950"/>
            <a:chOff x="0" y="0"/>
            <a:chExt cx="1434943" cy="17677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72950" y="2908300"/>
            <a:ext cx="5448300" cy="6711950"/>
            <a:chOff x="0" y="0"/>
            <a:chExt cx="1434943" cy="1767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34943" cy="1767756"/>
            </a:xfrm>
            <a:custGeom>
              <a:avLst/>
              <a:gdLst/>
              <a:ahLst/>
              <a:cxnLst/>
              <a:rect l="l" t="t" r="r" b="b"/>
              <a:pathLst>
                <a:path w="1434943" h="1767756">
                  <a:moveTo>
                    <a:pt x="28420" y="0"/>
                  </a:moveTo>
                  <a:lnTo>
                    <a:pt x="1406524" y="0"/>
                  </a:lnTo>
                  <a:cubicBezTo>
                    <a:pt x="1422219" y="0"/>
                    <a:pt x="1434943" y="12724"/>
                    <a:pt x="1434943" y="28420"/>
                  </a:cubicBezTo>
                  <a:lnTo>
                    <a:pt x="1434943" y="1739337"/>
                  </a:lnTo>
                  <a:cubicBezTo>
                    <a:pt x="1434943" y="1755033"/>
                    <a:pt x="1422219" y="1767756"/>
                    <a:pt x="1406524" y="1767756"/>
                  </a:cubicBezTo>
                  <a:lnTo>
                    <a:pt x="28420" y="1767756"/>
                  </a:lnTo>
                  <a:cubicBezTo>
                    <a:pt x="12724" y="1767756"/>
                    <a:pt x="0" y="1755033"/>
                    <a:pt x="0" y="1739337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solidFill>
              <a:srgbClr val="4A90E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434943" cy="17963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6053" y="4248150"/>
            <a:ext cx="4649694" cy="3581400"/>
            <a:chOff x="0" y="0"/>
            <a:chExt cx="1259398" cy="9700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2"/>
              <a:stretch>
                <a:fillRect l="-342" r="-34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819153" y="4248150"/>
            <a:ext cx="4649694" cy="3581400"/>
            <a:chOff x="0" y="0"/>
            <a:chExt cx="1259398" cy="97004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3"/>
              <a:stretch>
                <a:fillRect l="-342" r="-342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2572253" y="4248150"/>
            <a:ext cx="4649694" cy="3581400"/>
            <a:chOff x="0" y="0"/>
            <a:chExt cx="1259398" cy="9700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9398" cy="970044"/>
            </a:xfrm>
            <a:custGeom>
              <a:avLst/>
              <a:gdLst/>
              <a:ahLst/>
              <a:cxnLst/>
              <a:rect l="l" t="t" r="r" b="b"/>
              <a:pathLst>
                <a:path w="1259398" h="970044">
                  <a:moveTo>
                    <a:pt x="33301" y="0"/>
                  </a:moveTo>
                  <a:lnTo>
                    <a:pt x="1226097" y="0"/>
                  </a:lnTo>
                  <a:cubicBezTo>
                    <a:pt x="1244489" y="0"/>
                    <a:pt x="1259398" y="14909"/>
                    <a:pt x="1259398" y="33301"/>
                  </a:cubicBezTo>
                  <a:lnTo>
                    <a:pt x="1259398" y="936743"/>
                  </a:lnTo>
                  <a:cubicBezTo>
                    <a:pt x="1259398" y="955135"/>
                    <a:pt x="1244489" y="970044"/>
                    <a:pt x="1226097" y="970044"/>
                  </a:cubicBezTo>
                  <a:lnTo>
                    <a:pt x="33301" y="970044"/>
                  </a:lnTo>
                  <a:cubicBezTo>
                    <a:pt x="24469" y="970044"/>
                    <a:pt x="15999" y="966535"/>
                    <a:pt x="9754" y="960290"/>
                  </a:cubicBezTo>
                  <a:cubicBezTo>
                    <a:pt x="3508" y="954045"/>
                    <a:pt x="0" y="945575"/>
                    <a:pt x="0" y="936743"/>
                  </a:cubicBezTo>
                  <a:lnTo>
                    <a:pt x="0" y="33301"/>
                  </a:lnTo>
                  <a:cubicBezTo>
                    <a:pt x="0" y="24469"/>
                    <a:pt x="3508" y="15999"/>
                    <a:pt x="9754" y="9754"/>
                  </a:cubicBezTo>
                  <a:cubicBezTo>
                    <a:pt x="15999" y="3508"/>
                    <a:pt x="24469" y="0"/>
                    <a:pt x="33301" y="0"/>
                  </a:cubicBezTo>
                  <a:close/>
                </a:path>
              </a:pathLst>
            </a:custGeom>
            <a:blipFill>
              <a:blip r:embed="rId4"/>
              <a:stretch>
                <a:fillRect l="-342" r="-34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021783" y="8292521"/>
            <a:ext cx="4738234" cy="870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9"/>
              </a:lnSpc>
            </a:pPr>
            <a:r>
              <a:rPr lang="en-US" sz="1714" spc="-25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Los reportes estadísticos confiables permiten acciones informadas y efectivas en la defensa de derechos.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1066" y="3381375"/>
            <a:ext cx="4699667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Acceso a reportes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73192" y="8292521"/>
            <a:ext cx="4741615" cy="57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9"/>
              </a:lnSpc>
            </a:pPr>
            <a:r>
              <a:rPr lang="en-US" sz="1714" spc="-25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 mejor monitoreo de condiciones laborales ayuda a identificar áreas críticas y áreas de mejora.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773192" y="3381375"/>
            <a:ext cx="4741615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  <a:spcBef>
                <a:spcPct val="0"/>
              </a:spcBef>
            </a:pPr>
            <a:r>
              <a:rPr lang="en-US" sz="3800" u="none" strike="noStrike" spc="-95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Mejor monitoreo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51109" y="8291369"/>
            <a:ext cx="4691983" cy="870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399"/>
              </a:lnSpc>
            </a:pPr>
            <a:r>
              <a:rPr lang="en-US" sz="1714" spc="-25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Facilita la toma de decisiones estratégicas basadas en datos precisos y actuales sobre el trabajo.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551109" y="3381375"/>
            <a:ext cx="4691983" cy="54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80"/>
              </a:lnSpc>
            </a:pPr>
            <a:r>
              <a:rPr lang="en-US" sz="3800" spc="-95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Toma de decisiones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6750" y="809625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00"/>
              </a:lnSpc>
            </a:pPr>
            <a:r>
              <a:rPr lang="en-US" sz="8000" spc="-200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Ventajas para ONG FARO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7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solidFill>
              <a:srgbClr val="4A90E2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052512" y="666750"/>
            <a:ext cx="5753100" cy="8953500"/>
            <a:chOff x="0" y="0"/>
            <a:chExt cx="814724" cy="126794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1267949"/>
            </a:xfrm>
            <a:custGeom>
              <a:avLst/>
              <a:gdLst/>
              <a:ahLst/>
              <a:cxnLst/>
              <a:rect l="l" t="t" r="r" b="b"/>
              <a:pathLst>
                <a:path w="814724" h="1267949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1241035"/>
                  </a:lnTo>
                  <a:cubicBezTo>
                    <a:pt x="814724" y="1255899"/>
                    <a:pt x="802675" y="1267949"/>
                    <a:pt x="787810" y="1267949"/>
                  </a:cubicBezTo>
                  <a:lnTo>
                    <a:pt x="26914" y="1267949"/>
                  </a:lnTo>
                  <a:cubicBezTo>
                    <a:pt x="12050" y="1267949"/>
                    <a:pt x="0" y="1255899"/>
                    <a:pt x="0" y="1241035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2"/>
              <a:stretch>
                <a:fillRect t="-199" b="-199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3117037">
            <a:off x="5418783" y="7952721"/>
            <a:ext cx="2112604" cy="1859092"/>
          </a:xfrm>
          <a:custGeom>
            <a:avLst/>
            <a:gdLst/>
            <a:ahLst/>
            <a:cxnLst/>
            <a:rect l="l" t="t" r="r" b="b"/>
            <a:pathLst>
              <a:path w="2112604" h="1859092">
                <a:moveTo>
                  <a:pt x="0" y="0"/>
                </a:moveTo>
                <a:lnTo>
                  <a:pt x="2112604" y="0"/>
                </a:lnTo>
                <a:lnTo>
                  <a:pt x="2112604" y="1859092"/>
                </a:lnTo>
                <a:lnTo>
                  <a:pt x="0" y="18590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994596" y="2692427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296400" y="9001760"/>
            <a:ext cx="8324850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0"/>
              </a:lnSpc>
            </a:pPr>
            <a:r>
              <a:rPr lang="en-US" sz="3800" spc="-57">
                <a:solidFill>
                  <a:srgbClr val="F0F4F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Próximos Pasos para Implementación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03759" y="942975"/>
            <a:ext cx="8317491" cy="1999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956"/>
              </a:lnSpc>
            </a:pPr>
            <a:r>
              <a:rPr lang="en-US" sz="14956" spc="-523">
                <a:solidFill>
                  <a:srgbClr val="F0F4F8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Resumen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334</Words>
  <Application>Microsoft Office PowerPoint</Application>
  <PresentationFormat>Personalizado</PresentationFormat>
  <Paragraphs>28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Helvetica World</vt:lpstr>
      <vt:lpstr>Arial</vt:lpstr>
      <vt:lpstr>Georgia Pro Condensed</vt:lpstr>
      <vt:lpstr>Helvetica World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- Voces: Plataforma Evaluadora de Sueldos</dc:title>
  <dc:description>Presentación - Voces: Plataforma Evaluadora de Sueldos</dc:description>
  <cp:lastModifiedBy>Usuario</cp:lastModifiedBy>
  <cp:revision>2</cp:revision>
  <dcterms:created xsi:type="dcterms:W3CDTF">2006-08-16T00:00:00Z</dcterms:created>
  <dcterms:modified xsi:type="dcterms:W3CDTF">2025-11-11T20:33:11Z</dcterms:modified>
  <dc:identifier>DAG4Xk6QKHE</dc:identifier>
</cp:coreProperties>
</file>